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aIKKa69f1s15CvZ0vF13N09iF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93AA3-EB49-4AC1-BF0E-63E6A62C32DC}">
  <a:tblStyle styleId="{C5A93AA3-EB49-4AC1-BF0E-63E6A62C32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051560"/>
            <a:ext cx="256032" cy="256032"/>
          </a:xfrm>
          <a:prstGeom prst="ellipse">
            <a:avLst/>
          </a:prstGeom>
          <a:solidFill>
            <a:srgbClr val="E885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88727" y="1005850"/>
            <a:ext cx="982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ADVANCED SYSTEMS ENGINEERING 							             						       </a:t>
            </a:r>
            <a:r>
              <a:rPr b="1" lang="en-US" sz="1300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25.6.</a:t>
            </a:r>
            <a:r>
              <a:rPr b="1" i="0" lang="en-US" sz="13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300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Bookman Old Style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Can AI Develop a Slicer?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246120"/>
            <a:ext cx="5029200" cy="1783080"/>
          </a:xfrm>
          <a:prstGeom prst="roundRect">
            <a:avLst>
              <a:gd fmla="val 4103" name="adj"/>
            </a:avLst>
          </a:prstGeom>
          <a:solidFill>
            <a:srgbClr val="14323F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143000" y="3520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RQ1 · Feasibility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43000" y="397764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an experienced FDM 3D-printer user with no slicer or geometric-computing expertise develop a working slicer using only AI?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309360" y="3246120"/>
            <a:ext cx="5029200" cy="1783080"/>
          </a:xfrm>
          <a:prstGeom prst="roundRect">
            <a:avLst>
              <a:gd fmla="val 4103" name="adj"/>
            </a:avLst>
          </a:prstGeom>
          <a:solidFill>
            <a:srgbClr val="14323F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629400" y="3520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RQ2 · Performance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29400" y="397764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the AI-built slicer compare to professional software (Ultimaker Cura) in terms of dimensional accuracy and print time?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Thomas Martin Pfister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1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1128260" y="1060760"/>
            <a:ext cx="255900" cy="255900"/>
          </a:xfrm>
          <a:prstGeom prst="ellipse">
            <a:avLst/>
          </a:prstGeom>
          <a:solidFill>
            <a:srgbClr val="E885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0E2A3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is a slicer?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155448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68680" y="173736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A slicer is the compiler.  </a:t>
            </a:r>
            <a:r>
              <a:rPr b="0" i="0" lang="en-US" sz="16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It turns a 3D model into machine instructions (G-code) — the way </a:t>
            </a:r>
            <a:r>
              <a:rPr b="1" i="1" lang="en-US" sz="16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gcc</a:t>
            </a:r>
            <a:r>
              <a:rPr b="0" i="0" lang="en-US" sz="16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 turns C into assembly.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291840"/>
            <a:ext cx="548640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68680" y="347472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Input — the STL file:  </a:t>
            </a:r>
            <a:r>
              <a:rPr b="0" i="0" lang="en-US" sz="1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just a </a:t>
            </a:r>
            <a:r>
              <a:rPr b="1" i="0" lang="en-US" sz="1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soup of triangles</a:t>
            </a:r>
            <a:r>
              <a:rPr b="0" i="0" lang="en-US" sz="1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 with no idea which form a wall or a hole. Rebuilding that structure is the hard part.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mp_slicer_process-1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6695" y="1417320"/>
            <a:ext cx="5212080" cy="368605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476695" y="514909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Model → layers → printer toolpaths.  (Jin et al., 2020, CC BY 4.0)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4983480"/>
            <a:ext cx="5486400" cy="1188720"/>
          </a:xfrm>
          <a:prstGeom prst="roundRect">
            <a:avLst>
              <a:gd fmla="val 4615" name="adj"/>
            </a:avLst>
          </a:prstGeom>
          <a:solidFill>
            <a:srgbClr val="0E2A38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22960" y="50749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Example entry</a:t>
            </a:r>
            <a:r>
              <a:rPr b="0" i="1" lang="en-US" sz="11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 triangle in an STL file: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533095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FE8E6"/>
                </a:solidFill>
                <a:latin typeface="Courier New"/>
                <a:ea typeface="Courier New"/>
                <a:cs typeface="Courier New"/>
                <a:sym typeface="Courier New"/>
              </a:rPr>
              <a:t>facet normal 0 0 -1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FE8E6"/>
                </a:solidFill>
                <a:latin typeface="Courier New"/>
                <a:ea typeface="Courier New"/>
                <a:cs typeface="Courier New"/>
                <a:sym typeface="Courier New"/>
              </a:rPr>
              <a:t>  outer loop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FE8E6"/>
                </a:solidFill>
                <a:latin typeface="Courier New"/>
                <a:ea typeface="Courier New"/>
                <a:cs typeface="Courier New"/>
                <a:sym typeface="Courier New"/>
              </a:rPr>
              <a:t>    vertex 0 0 0   /   vertex 10 0 0   /   vertex 10 10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FE8E6"/>
                </a:solidFill>
                <a:latin typeface="Courier New"/>
                <a:ea typeface="Courier New"/>
                <a:cs typeface="Courier New"/>
                <a:sym typeface="Courier New"/>
              </a:rPr>
              <a:t>  endloop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FE8E6"/>
                </a:solidFill>
                <a:latin typeface="Courier New"/>
                <a:ea typeface="Courier New"/>
                <a:cs typeface="Courier New"/>
                <a:sym typeface="Courier New"/>
              </a:rPr>
              <a:t>endfacet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0E2A3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Building the slicer with 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1417320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40080" y="1417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STL</a:t>
            </a:r>
            <a:br>
              <a:rPr b="1" i="0" lang="en-US" sz="18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triangle soup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38328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297680" y="1417320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297680" y="1417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br>
              <a:rPr b="1" i="0" lang="en-US" sz="18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ordered contours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04088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955280" y="1417320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0E7C86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955280" y="1417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G-code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printer commands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~2,700 lines of Go — every line written by AI from natural-language prompts.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3520440"/>
            <a:ext cx="4937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0080" y="3776472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5200"/>
              <a:buFont typeface="Bookman Old Style"/>
              <a:buNone/>
            </a:pPr>
            <a:r>
              <a:rPr b="1" i="0" lang="en-US" sz="5200" u="none" cap="none" strike="noStrike">
                <a:solidFill>
                  <a:srgbClr val="0E7C8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44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prompts kept</a:t>
            </a:r>
            <a:r>
              <a:rPr b="0" i="0" lang="en-US" sz="15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 — out of 150+ issued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2960" y="4937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30 remain in the live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43600" y="3520440"/>
            <a:ext cx="5608015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43600" y="3502152"/>
            <a:ext cx="5607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models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943600" y="3959352"/>
            <a:ext cx="560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GPT-5.3 Code</a:t>
            </a:r>
            <a:r>
              <a:rPr b="1" i="0" lang="en-US" sz="19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900" u="none" cap="none" strike="noStrike">
              <a:solidFill>
                <a:srgbClr val="0E7C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early development phase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43600" y="4526280"/>
            <a:ext cx="560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GPT-5.4-mini</a:t>
            </a:r>
            <a:endParaRPr b="0" i="0" sz="1900" u="none" cap="none" strike="noStrike">
              <a:solidFill>
                <a:srgbClr val="0E7C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later phase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7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0E2A3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Results: the numbers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Mean deviation from nominal (in mm, rounded) with per-axis breakdown, and mean print time, vs. Ultimaker Cura.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4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{C5A93AA3-EB49-4AC1-BF0E-63E6A62C32DC}</a:tableStyleId>
              </a:tblPr>
              <a:tblGrid>
                <a:gridCol w="2423150"/>
                <a:gridCol w="2834650"/>
                <a:gridCol w="2834650"/>
                <a:gridCol w="28346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</a:t>
                      </a: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·  Dev. / Time / per-axis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Cura matched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Vibe Slicer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Cura opt. (ref.)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8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E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cube outer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+0.06 / 09:04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+0.02  Y +0.13  Z +0.02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+0.06 / 07:47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+0.03  Y +0.15  Z +0.01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−0.01 / 11:32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−0.03  Y −0.01  Z +0.01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8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E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Hole outer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+0.08 / 28:33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−0.02  Y +0.30  Z −0.05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 </a:t>
                      </a:r>
                      <a:r>
                        <a:rPr b="1" lang="en-US" sz="1350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46:12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−0.08  Y +0.30  Z −0.01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+0.03 / 31:47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−0.03  Y +0.16  Z −0.03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8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E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mm hole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−0.07  Y −0.03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−0.10 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−0.17  Y −0.02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−0.01 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−0.01  Y  0.00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8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E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mm hole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−0.07 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−0.18  Y +0.04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−0.08 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−0.16  Y +0.01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−0.04 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C70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−0.09  Y +0.02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4"/>
          <p:cNvSpPr/>
          <p:nvPr/>
        </p:nvSpPr>
        <p:spPr>
          <a:xfrm>
            <a:off x="640080" y="5212080"/>
            <a:ext cx="10927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Summary Vibe Slicer</a:t>
            </a:r>
            <a:r>
              <a:rPr b="1" i="0" lang="en-US" sz="14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14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matched accuracy under matched parameters;  </a:t>
            </a:r>
            <a:r>
              <a:rPr b="1" i="0" lang="en-US" sz="14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14% faster</a:t>
            </a:r>
            <a:r>
              <a:rPr b="0" i="0" lang="en-US" sz="14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 on the cube,  </a:t>
            </a:r>
            <a:r>
              <a:rPr b="1" i="0" lang="en-US" sz="140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62% slower</a:t>
            </a:r>
            <a:r>
              <a:rPr b="0" i="0" lang="en-US" sz="14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 on the holed plate.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" y="5715000"/>
            <a:ext cx="10927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7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8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0E2A3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Results: visualised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1371600"/>
            <a:ext cx="5577840" cy="3611880"/>
          </a:xfrm>
          <a:prstGeom prst="roundRect">
            <a:avLst>
              <a:gd fmla="val 1519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mp_bench_deviation-1.png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1600200"/>
            <a:ext cx="4160520" cy="308643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548640" y="50932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Dimensional deviation from nominal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355080" y="1371600"/>
            <a:ext cx="5303520" cy="3611880"/>
          </a:xfrm>
          <a:prstGeom prst="roundRect">
            <a:avLst>
              <a:gd fmla="val 1519" name="adj"/>
            </a:avLst>
          </a:prstGeom>
          <a:solidFill>
            <a:srgbClr val="FFFFFF"/>
          </a:solidFill>
          <a:ln cap="flat" cmpd="sng" w="12700">
            <a:solidFill>
              <a:srgbClr val="CFE8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mp_bench_time-1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1508760"/>
            <a:ext cx="5120640" cy="336220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6355080" y="509320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Mean print time per object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Accuracy is comparable across conditions; </a:t>
            </a:r>
            <a:r>
              <a:rPr b="1" i="0" lang="en-US" sz="150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the print-time gap on the holed plate is the real difference.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77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Bookman Old Style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22960" y="1371600"/>
            <a:ext cx="10515600" cy="1691640"/>
          </a:xfrm>
          <a:prstGeom prst="roundRect">
            <a:avLst>
              <a:gd fmla="val 4324" name="adj"/>
            </a:avLst>
          </a:prstGeom>
          <a:solidFill>
            <a:srgbClr val="14323F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143000" y="16002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RQ1 · Feasibility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43000" y="20116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Bookman Old Style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Yes* — a working slicer</a:t>
            </a:r>
            <a:r>
              <a:rPr b="1" lang="en-US" sz="19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can be</a:t>
            </a:r>
            <a:r>
              <a:rPr b="1" i="0" lang="en-US" sz="19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built entirely by prompting.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43000" y="24688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400"/>
              <a:buFont typeface="Calibri"/>
              <a:buNone/>
            </a:pPr>
            <a:r>
              <a:rPr lang="en-US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* Very challenging without G-Code experience</a:t>
            </a:r>
            <a:endParaRPr>
              <a:solidFill>
                <a:srgbClr val="CFE8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* Implementing complex shapes purely AI-based proved very difficult with the AI models used.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22960" y="3291840"/>
            <a:ext cx="10515600" cy="1691640"/>
          </a:xfrm>
          <a:prstGeom prst="roundRect">
            <a:avLst>
              <a:gd fmla="val 4324" name="adj"/>
            </a:avLst>
          </a:prstGeom>
          <a:solidFill>
            <a:srgbClr val="14323F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143000" y="35204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RQ2 · Performance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43000" y="39319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Bookman Old Style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Comparable accuracy on simple geometry; significantly longer print time on complex parts.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43000" y="4480560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Same parameters → matched accuracy and a faster cube; 62% slower print time on the holed plate.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0A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B0A5"/>
                </a:solidFill>
                <a:latin typeface="Calibri"/>
                <a:ea typeface="Calibri"/>
                <a:cs typeface="Calibri"/>
                <a:sym typeface="Calibri"/>
              </a:rPr>
              <a:t>Open question:  </a:t>
            </a:r>
            <a:r>
              <a:rPr b="0" i="1" lang="en-US" sz="14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would a different AI model — or handing the AI a geometric library (Clipper2) — handle complex shapes better?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A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E8853A"/>
                </a:solidFill>
                <a:latin typeface="Calibri"/>
                <a:ea typeface="Calibri"/>
                <a:cs typeface="Calibri"/>
                <a:sym typeface="Calibri"/>
              </a:rPr>
              <a:t>Next — live demo.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University of Salzburg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2026-06-18T20:51:45Z</dcterms:created>
  <dc:creator>Thomas Martin Pfister</dc:creator>
</cp:coreProperties>
</file>