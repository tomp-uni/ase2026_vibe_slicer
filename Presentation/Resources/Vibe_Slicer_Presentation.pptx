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1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5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</p:sldIdLst>
  <p:sldSz cy="6858000" cx="12192000"/>
  <p:notesSz cx="6858000" cy="12192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11" roundtripDataSignature="AMtx7mh85uv2YykUPZvj7Uddzi4Lhf7Bd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79D9FD0F-E175-438F-B7BA-668FD9863F88}">
  <a:tblStyle styleId="{79D9FD0F-E175-438F-B7BA-668FD9863F88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11" Type="http://customschemas.google.com/relationships/presentationmetadata" Target="metadata"/><Relationship Id="rId10" Type="http://schemas.openxmlformats.org/officeDocument/2006/relationships/slide" Target="slides/slide5.xml"/><Relationship Id="rId9" Type="http://schemas.openxmlformats.org/officeDocument/2006/relationships/slide" Target="slides/slide4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" name="Google Shape;13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" name="Google Shape;14;p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1" name="Google Shape;31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" name="Google Shape;32;p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8" name="Google Shape;48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" name="Google Shape;49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4" name="Google Shape;74;p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5" name="Google Shape;8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6" name="Google Shape;86;p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E2A38"/>
        </a:solidFill>
      </p:bgPr>
    </p:bg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"/>
          <p:cNvSpPr/>
          <p:nvPr/>
        </p:nvSpPr>
        <p:spPr>
          <a:xfrm>
            <a:off x="822960" y="1051560"/>
            <a:ext cx="256032" cy="256032"/>
          </a:xfrm>
          <a:prstGeom prst="ellipse">
            <a:avLst/>
          </a:prstGeom>
          <a:solidFill>
            <a:srgbClr val="E8853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" name="Google Shape;17;p1"/>
          <p:cNvSpPr/>
          <p:nvPr/>
        </p:nvSpPr>
        <p:spPr>
          <a:xfrm>
            <a:off x="1188727" y="1005850"/>
            <a:ext cx="98298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B0A5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13B0A5"/>
                </a:solidFill>
                <a:latin typeface="Calibri"/>
                <a:ea typeface="Calibri"/>
                <a:cs typeface="Calibri"/>
                <a:sym typeface="Calibri"/>
              </a:rPr>
              <a:t>ADVANCED SYSTEMS ENGINEERING 							             						       </a:t>
            </a:r>
            <a:r>
              <a:rPr b="1" lang="en-US" sz="1300">
                <a:solidFill>
                  <a:srgbClr val="13B0A5"/>
                </a:solidFill>
                <a:latin typeface="Calibri"/>
                <a:ea typeface="Calibri"/>
                <a:cs typeface="Calibri"/>
                <a:sym typeface="Calibri"/>
              </a:rPr>
              <a:t>25.6.</a:t>
            </a:r>
            <a:r>
              <a:rPr b="1" i="0" lang="en-US" sz="1300" u="none" cap="none" strike="noStrike">
                <a:solidFill>
                  <a:srgbClr val="13B0A5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b="1" lang="en-US" sz="1300">
                <a:solidFill>
                  <a:srgbClr val="13B0A5"/>
                </a:solidFill>
                <a:latin typeface="Calibri"/>
                <a:ea typeface="Calibri"/>
                <a:cs typeface="Calibri"/>
                <a:sym typeface="Calibri"/>
              </a:rPr>
              <a:t>026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" name="Google Shape;18;p1"/>
          <p:cNvSpPr/>
          <p:nvPr/>
        </p:nvSpPr>
        <p:spPr>
          <a:xfrm>
            <a:off x="822960" y="1783080"/>
            <a:ext cx="10515600" cy="10972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600"/>
              <a:buFont typeface="Bookman Old Style"/>
              <a:buNone/>
            </a:pPr>
            <a:r>
              <a:rPr b="1" i="0" lang="en-US" sz="4600" u="none" cap="none" strike="noStrike">
                <a:solidFill>
                  <a:srgbClr val="FFFFFF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Can AI Develop a Slicer?</a:t>
            </a:r>
            <a:endParaRPr b="0" i="0" sz="4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19;p1"/>
          <p:cNvSpPr/>
          <p:nvPr/>
        </p:nvSpPr>
        <p:spPr>
          <a:xfrm>
            <a:off x="822960" y="3246120"/>
            <a:ext cx="5029200" cy="1783080"/>
          </a:xfrm>
          <a:prstGeom prst="roundRect">
            <a:avLst>
              <a:gd fmla="val 4103" name="adj"/>
            </a:avLst>
          </a:prstGeom>
          <a:solidFill>
            <a:srgbClr val="14323F"/>
          </a:solidFill>
          <a:ln cap="flat" cmpd="sng" w="12700">
            <a:solidFill>
              <a:srgbClr val="0E7C86"/>
            </a:solidFill>
            <a:prstDash val="solid"/>
            <a:round/>
            <a:headEnd len="sm" w="sm" type="none"/>
            <a:tailEnd len="sm" w="sm" type="none"/>
          </a:ln>
          <a:effectLst>
            <a:outerShdw blurRad="88900" rotWithShape="0" algn="bl" dir="2700000" dist="38100">
              <a:srgbClr val="000000">
                <a:alpha val="1607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" name="Google Shape;20;p1"/>
          <p:cNvSpPr/>
          <p:nvPr/>
        </p:nvSpPr>
        <p:spPr>
          <a:xfrm>
            <a:off x="1143000" y="3520440"/>
            <a:ext cx="43891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B0A5"/>
              </a:buClr>
              <a:buSzPts val="1600"/>
              <a:buFont typeface="Calibri"/>
              <a:buNone/>
            </a:pPr>
            <a:r>
              <a:rPr b="1" i="0" lang="en-US" sz="1600" u="none" cap="none" strike="noStrike">
                <a:solidFill>
                  <a:srgbClr val="13B0A5"/>
                </a:solidFill>
                <a:latin typeface="Calibri"/>
                <a:ea typeface="Calibri"/>
                <a:cs typeface="Calibri"/>
                <a:sym typeface="Calibri"/>
              </a:rPr>
              <a:t>RQ1 · Feasibility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" name="Google Shape;21;p1"/>
          <p:cNvSpPr/>
          <p:nvPr/>
        </p:nvSpPr>
        <p:spPr>
          <a:xfrm>
            <a:off x="1143000" y="3977640"/>
            <a:ext cx="438912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Calibri"/>
              <a:buNone/>
            </a:pPr>
            <a:r>
              <a:rPr b="0" i="0" lang="en-US" sz="15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Can an experienced FDM 3D-printer user with no slicer or geometric-computing expertise develop a working slicer using only AI?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" name="Google Shape;22;p1"/>
          <p:cNvSpPr/>
          <p:nvPr/>
        </p:nvSpPr>
        <p:spPr>
          <a:xfrm>
            <a:off x="6309360" y="3246120"/>
            <a:ext cx="5029200" cy="1783080"/>
          </a:xfrm>
          <a:prstGeom prst="roundRect">
            <a:avLst>
              <a:gd fmla="val 4103" name="adj"/>
            </a:avLst>
          </a:prstGeom>
          <a:solidFill>
            <a:srgbClr val="14323F"/>
          </a:solidFill>
          <a:ln cap="flat" cmpd="sng" w="12700">
            <a:solidFill>
              <a:srgbClr val="0E7C86"/>
            </a:solidFill>
            <a:prstDash val="solid"/>
            <a:round/>
            <a:headEnd len="sm" w="sm" type="none"/>
            <a:tailEnd len="sm" w="sm" type="none"/>
          </a:ln>
          <a:effectLst>
            <a:outerShdw blurRad="88900" rotWithShape="0" algn="bl" dir="2700000" dist="38100">
              <a:srgbClr val="000000">
                <a:alpha val="1607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" name="Google Shape;23;p1"/>
          <p:cNvSpPr/>
          <p:nvPr/>
        </p:nvSpPr>
        <p:spPr>
          <a:xfrm>
            <a:off x="6629400" y="3520440"/>
            <a:ext cx="43891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B0A5"/>
              </a:buClr>
              <a:buSzPts val="1600"/>
              <a:buFont typeface="Calibri"/>
              <a:buNone/>
            </a:pPr>
            <a:r>
              <a:rPr b="1" i="0" lang="en-US" sz="1600" u="none" cap="none" strike="noStrike">
                <a:solidFill>
                  <a:srgbClr val="13B0A5"/>
                </a:solidFill>
                <a:latin typeface="Calibri"/>
                <a:ea typeface="Calibri"/>
                <a:cs typeface="Calibri"/>
                <a:sym typeface="Calibri"/>
              </a:rPr>
              <a:t>RQ2 · Performance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" name="Google Shape;24;p1"/>
          <p:cNvSpPr/>
          <p:nvPr/>
        </p:nvSpPr>
        <p:spPr>
          <a:xfrm>
            <a:off x="6629400" y="3977640"/>
            <a:ext cx="438912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Calibri"/>
              <a:buNone/>
            </a:pPr>
            <a:r>
              <a:rPr b="0" i="0" lang="en-US" sz="15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How does the AI-built slicer compare to professional software (Ultimaker Cura) in terms of dimensional accuracy and print time?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" name="Google Shape;25;p1"/>
          <p:cNvSpPr/>
          <p:nvPr/>
        </p:nvSpPr>
        <p:spPr>
          <a:xfrm>
            <a:off x="0" y="6400800"/>
            <a:ext cx="12191695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FE8E6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CFE8E6"/>
                </a:solidFill>
                <a:latin typeface="Calibri"/>
                <a:ea typeface="Calibri"/>
                <a:cs typeface="Calibri"/>
                <a:sym typeface="Calibri"/>
              </a:rPr>
              <a:t>Thomas Martin Pfister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" name="Google Shape;26;p1"/>
          <p:cNvSpPr/>
          <p:nvPr/>
        </p:nvSpPr>
        <p:spPr>
          <a:xfrm>
            <a:off x="640080" y="6400800"/>
            <a:ext cx="45720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FE8E6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CFE8E6"/>
                </a:solidFill>
                <a:latin typeface="Calibri"/>
                <a:ea typeface="Calibri"/>
                <a:cs typeface="Calibri"/>
                <a:sym typeface="Calibri"/>
              </a:rPr>
              <a:t>University of Salzburg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" name="Google Shape;27;p1"/>
          <p:cNvSpPr/>
          <p:nvPr/>
        </p:nvSpPr>
        <p:spPr>
          <a:xfrm>
            <a:off x="10728655" y="6400800"/>
            <a:ext cx="8229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CFE8E6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CFE8E6"/>
                </a:solidFill>
                <a:latin typeface="Calibri"/>
                <a:ea typeface="Calibri"/>
                <a:cs typeface="Calibri"/>
                <a:sym typeface="Calibri"/>
              </a:rPr>
              <a:t>1 / </a:t>
            </a:r>
            <a:r>
              <a:rPr lang="en-US" sz="1100">
                <a:solidFill>
                  <a:srgbClr val="CFE8E6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" name="Google Shape;28;p1"/>
          <p:cNvSpPr/>
          <p:nvPr/>
        </p:nvSpPr>
        <p:spPr>
          <a:xfrm>
            <a:off x="11128260" y="1060760"/>
            <a:ext cx="255900" cy="255900"/>
          </a:xfrm>
          <a:prstGeom prst="ellipse">
            <a:avLst/>
          </a:prstGeom>
          <a:solidFill>
            <a:srgbClr val="E8853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4F7F7"/>
        </a:solidFill>
      </p:bgPr>
    </p:bg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2"/>
          <p:cNvSpPr/>
          <p:nvPr/>
        </p:nvSpPr>
        <p:spPr>
          <a:xfrm>
            <a:off x="640080" y="457200"/>
            <a:ext cx="82296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E2A38"/>
              </a:buClr>
              <a:buSzPts val="3400"/>
              <a:buFont typeface="Bookman Old Style"/>
              <a:buNone/>
            </a:pPr>
            <a:r>
              <a:rPr b="1" i="0" lang="en-US" sz="3400" u="none" cap="none" strike="noStrike">
                <a:solidFill>
                  <a:srgbClr val="0E2A38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What is a slicer?</a:t>
            </a:r>
            <a:endParaRPr b="0" i="0" sz="3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" name="Google Shape;35;p2"/>
          <p:cNvSpPr/>
          <p:nvPr/>
        </p:nvSpPr>
        <p:spPr>
          <a:xfrm>
            <a:off x="640080" y="1554480"/>
            <a:ext cx="5486400" cy="1463040"/>
          </a:xfrm>
          <a:prstGeom prst="roundRect">
            <a:avLst>
              <a:gd fmla="val 5000" name="adj"/>
            </a:avLst>
          </a:prstGeom>
          <a:solidFill>
            <a:srgbClr val="FFFFFF"/>
          </a:solidFill>
          <a:ln cap="flat" cmpd="sng" w="12700">
            <a:solidFill>
              <a:srgbClr val="CFE8E6"/>
            </a:solidFill>
            <a:prstDash val="solid"/>
            <a:round/>
            <a:headEnd len="sm" w="sm" type="none"/>
            <a:tailEnd len="sm" w="sm" type="none"/>
          </a:ln>
          <a:effectLst>
            <a:outerShdw blurRad="88900" rotWithShape="0" algn="bl" dir="2700000" dist="38100">
              <a:srgbClr val="000000">
                <a:alpha val="1607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" name="Google Shape;36;p2"/>
          <p:cNvSpPr/>
          <p:nvPr/>
        </p:nvSpPr>
        <p:spPr>
          <a:xfrm>
            <a:off x="868680" y="1737360"/>
            <a:ext cx="5029200" cy="10972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8853A"/>
              </a:buClr>
              <a:buSzPts val="1650"/>
              <a:buFont typeface="Calibri"/>
              <a:buNone/>
            </a:pPr>
            <a:r>
              <a:rPr b="1" i="0" lang="en-US" sz="1650" u="none" cap="none" strike="noStrike">
                <a:solidFill>
                  <a:srgbClr val="E8853A"/>
                </a:solidFill>
                <a:latin typeface="Calibri"/>
                <a:ea typeface="Calibri"/>
                <a:cs typeface="Calibri"/>
                <a:sym typeface="Calibri"/>
              </a:rPr>
              <a:t>A slicer is the compiler.  </a:t>
            </a:r>
            <a:r>
              <a:rPr b="0" i="0" lang="en-US" sz="1650" u="none" cap="none" strike="noStrike">
                <a:solidFill>
                  <a:srgbClr val="1B2A30"/>
                </a:solidFill>
                <a:latin typeface="Calibri"/>
                <a:ea typeface="Calibri"/>
                <a:cs typeface="Calibri"/>
                <a:sym typeface="Calibri"/>
              </a:rPr>
              <a:t>It turns a 3D model into machine instructions (G-code) — the way </a:t>
            </a:r>
            <a:r>
              <a:rPr b="1" i="1" lang="en-US" sz="1650" u="none" cap="none" strike="noStrike">
                <a:solidFill>
                  <a:srgbClr val="1B2A30"/>
                </a:solidFill>
                <a:latin typeface="Calibri"/>
                <a:ea typeface="Calibri"/>
                <a:cs typeface="Calibri"/>
                <a:sym typeface="Calibri"/>
              </a:rPr>
              <a:t>gcc</a:t>
            </a:r>
            <a:r>
              <a:rPr b="0" i="0" lang="en-US" sz="1650" u="none" cap="none" strike="noStrike">
                <a:solidFill>
                  <a:srgbClr val="1B2A30"/>
                </a:solidFill>
                <a:latin typeface="Calibri"/>
                <a:ea typeface="Calibri"/>
                <a:cs typeface="Calibri"/>
                <a:sym typeface="Calibri"/>
              </a:rPr>
              <a:t> turns C into assembly.</a:t>
            </a:r>
            <a:endParaRPr b="0" i="0" sz="1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" name="Google Shape;37;p2"/>
          <p:cNvSpPr/>
          <p:nvPr/>
        </p:nvSpPr>
        <p:spPr>
          <a:xfrm>
            <a:off x="640080" y="3291840"/>
            <a:ext cx="5486400" cy="1554480"/>
          </a:xfrm>
          <a:prstGeom prst="roundRect">
            <a:avLst>
              <a:gd fmla="val 4706" name="adj"/>
            </a:avLst>
          </a:prstGeom>
          <a:solidFill>
            <a:srgbClr val="FFFFFF"/>
          </a:solidFill>
          <a:ln cap="flat" cmpd="sng" w="12700">
            <a:solidFill>
              <a:srgbClr val="CFE8E6"/>
            </a:solidFill>
            <a:prstDash val="solid"/>
            <a:round/>
            <a:headEnd len="sm" w="sm" type="none"/>
            <a:tailEnd len="sm" w="sm" type="none"/>
          </a:ln>
          <a:effectLst>
            <a:outerShdw blurRad="88900" rotWithShape="0" algn="bl" dir="2700000" dist="38100">
              <a:srgbClr val="000000">
                <a:alpha val="1607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" name="Google Shape;38;p2"/>
          <p:cNvSpPr/>
          <p:nvPr/>
        </p:nvSpPr>
        <p:spPr>
          <a:xfrm>
            <a:off x="868680" y="3474720"/>
            <a:ext cx="5029200" cy="1188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E7C86"/>
              </a:buClr>
              <a:buSzPts val="1600"/>
              <a:buFont typeface="Calibri"/>
              <a:buNone/>
            </a:pPr>
            <a:r>
              <a:rPr b="1" i="0" lang="en-US" sz="1600" u="none" cap="none" strike="noStrike">
                <a:solidFill>
                  <a:srgbClr val="0E7C86"/>
                </a:solidFill>
                <a:latin typeface="Calibri"/>
                <a:ea typeface="Calibri"/>
                <a:cs typeface="Calibri"/>
                <a:sym typeface="Calibri"/>
              </a:rPr>
              <a:t>Input — the STL file:  </a:t>
            </a:r>
            <a:r>
              <a:rPr b="0" i="0" lang="en-US" sz="1600" u="none" cap="none" strike="noStrike">
                <a:solidFill>
                  <a:srgbClr val="1B2A30"/>
                </a:solidFill>
                <a:latin typeface="Calibri"/>
                <a:ea typeface="Calibri"/>
                <a:cs typeface="Calibri"/>
                <a:sym typeface="Calibri"/>
              </a:rPr>
              <a:t>just a </a:t>
            </a:r>
            <a:r>
              <a:rPr b="1" i="0" lang="en-US" sz="1600" u="none" cap="none" strike="noStrike">
                <a:solidFill>
                  <a:srgbClr val="1B2A30"/>
                </a:solidFill>
                <a:latin typeface="Calibri"/>
                <a:ea typeface="Calibri"/>
                <a:cs typeface="Calibri"/>
                <a:sym typeface="Calibri"/>
              </a:rPr>
              <a:t>soup of triangles</a:t>
            </a:r>
            <a:r>
              <a:rPr b="0" i="0" lang="en-US" sz="1600" u="none" cap="none" strike="noStrike">
                <a:solidFill>
                  <a:srgbClr val="1B2A30"/>
                </a:solidFill>
                <a:latin typeface="Calibri"/>
                <a:ea typeface="Calibri"/>
                <a:cs typeface="Calibri"/>
                <a:sym typeface="Calibri"/>
              </a:rPr>
              <a:t> with no idea which form a wall or a hole. Rebuilding that structure is the hard part.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tmp_slicer_process-1.png" id="39" name="Google Shape;39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476695" y="1417320"/>
            <a:ext cx="5212080" cy="3686054"/>
          </a:xfrm>
          <a:prstGeom prst="rect">
            <a:avLst/>
          </a:prstGeom>
          <a:noFill/>
          <a:ln>
            <a:noFill/>
          </a:ln>
        </p:spPr>
      </p:pic>
      <p:sp>
        <p:nvSpPr>
          <p:cNvPr id="40" name="Google Shape;40;p2"/>
          <p:cNvSpPr/>
          <p:nvPr/>
        </p:nvSpPr>
        <p:spPr>
          <a:xfrm>
            <a:off x="6476695" y="5149094"/>
            <a:ext cx="521208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C7077"/>
              </a:buClr>
              <a:buSzPts val="1100"/>
              <a:buFont typeface="Calibri"/>
              <a:buNone/>
            </a:pPr>
            <a:r>
              <a:rPr b="0" i="1" lang="en-US" sz="1100" u="none" cap="none" strike="noStrike">
                <a:solidFill>
                  <a:srgbClr val="5C7077"/>
                </a:solidFill>
                <a:latin typeface="Calibri"/>
                <a:ea typeface="Calibri"/>
                <a:cs typeface="Calibri"/>
                <a:sym typeface="Calibri"/>
              </a:rPr>
              <a:t>Model → layers → printer toolpaths.  (Jin et al., 2020, CC BY 4.0)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" name="Google Shape;41;p2"/>
          <p:cNvSpPr/>
          <p:nvPr/>
        </p:nvSpPr>
        <p:spPr>
          <a:xfrm>
            <a:off x="640080" y="4983480"/>
            <a:ext cx="5486400" cy="1188720"/>
          </a:xfrm>
          <a:prstGeom prst="roundRect">
            <a:avLst>
              <a:gd fmla="val 4615" name="adj"/>
            </a:avLst>
          </a:prstGeom>
          <a:solidFill>
            <a:srgbClr val="0E2A38"/>
          </a:solidFill>
          <a:ln cap="flat" cmpd="sng" w="12700">
            <a:solidFill>
              <a:srgbClr val="0E7C8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" name="Google Shape;42;p2"/>
          <p:cNvSpPr/>
          <p:nvPr/>
        </p:nvSpPr>
        <p:spPr>
          <a:xfrm>
            <a:off x="822960" y="5074920"/>
            <a:ext cx="51206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B0A5"/>
              </a:buClr>
              <a:buSzPts val="1100"/>
              <a:buFont typeface="Calibri"/>
              <a:buNone/>
            </a:pPr>
            <a:r>
              <a:rPr i="1" lang="en-US" sz="1100">
                <a:solidFill>
                  <a:srgbClr val="13B0A5"/>
                </a:solidFill>
                <a:latin typeface="Calibri"/>
                <a:ea typeface="Calibri"/>
                <a:cs typeface="Calibri"/>
                <a:sym typeface="Calibri"/>
              </a:rPr>
              <a:t>Example entry</a:t>
            </a:r>
            <a:r>
              <a:rPr b="0" i="1" lang="en-US" sz="1100" u="none" cap="none" strike="noStrike">
                <a:solidFill>
                  <a:srgbClr val="13B0A5"/>
                </a:solidFill>
                <a:latin typeface="Calibri"/>
                <a:ea typeface="Calibri"/>
                <a:cs typeface="Calibri"/>
                <a:sym typeface="Calibri"/>
              </a:rPr>
              <a:t> triangle in an STL file: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" name="Google Shape;43;p2"/>
          <p:cNvSpPr/>
          <p:nvPr/>
        </p:nvSpPr>
        <p:spPr>
          <a:xfrm>
            <a:off x="868680" y="5330952"/>
            <a:ext cx="5029200" cy="777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CFE8E6"/>
              </a:buClr>
              <a:buSzPts val="950"/>
              <a:buFont typeface="Courier New"/>
              <a:buNone/>
            </a:pPr>
            <a:r>
              <a:rPr b="0" i="0" lang="en-US" sz="950" u="none" cap="none" strike="noStrike">
                <a:solidFill>
                  <a:srgbClr val="CFE8E6"/>
                </a:solidFill>
                <a:latin typeface="Courier New"/>
                <a:ea typeface="Courier New"/>
                <a:cs typeface="Courier New"/>
                <a:sym typeface="Courier New"/>
              </a:rPr>
              <a:t>facet normal 0 0 -1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CFE8E6"/>
              </a:buClr>
              <a:buSzPts val="950"/>
              <a:buFont typeface="Courier New"/>
              <a:buNone/>
            </a:pPr>
            <a:r>
              <a:rPr b="0" i="0" lang="en-US" sz="950" u="none" cap="none" strike="noStrike">
                <a:solidFill>
                  <a:srgbClr val="CFE8E6"/>
                </a:solidFill>
                <a:latin typeface="Courier New"/>
                <a:ea typeface="Courier New"/>
                <a:cs typeface="Courier New"/>
                <a:sym typeface="Courier New"/>
              </a:rPr>
              <a:t>  outer loop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CFE8E6"/>
              </a:buClr>
              <a:buSzPts val="950"/>
              <a:buFont typeface="Courier New"/>
              <a:buNone/>
            </a:pPr>
            <a:r>
              <a:rPr b="0" i="0" lang="en-US" sz="950" u="none" cap="none" strike="noStrike">
                <a:solidFill>
                  <a:srgbClr val="CFE8E6"/>
                </a:solidFill>
                <a:latin typeface="Courier New"/>
                <a:ea typeface="Courier New"/>
                <a:cs typeface="Courier New"/>
                <a:sym typeface="Courier New"/>
              </a:rPr>
              <a:t>    vertex 0 0 0   /   vertex 10 0 0   /   vertex 10 10 0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CFE8E6"/>
              </a:buClr>
              <a:buSzPts val="950"/>
              <a:buFont typeface="Courier New"/>
              <a:buNone/>
            </a:pPr>
            <a:r>
              <a:rPr b="0" i="0" lang="en-US" sz="950" u="none" cap="none" strike="noStrike">
                <a:solidFill>
                  <a:srgbClr val="CFE8E6"/>
                </a:solidFill>
                <a:latin typeface="Courier New"/>
                <a:ea typeface="Courier New"/>
                <a:cs typeface="Courier New"/>
                <a:sym typeface="Courier New"/>
              </a:rPr>
              <a:t>  endloop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CFE8E6"/>
              </a:buClr>
              <a:buSzPts val="950"/>
              <a:buFont typeface="Courier New"/>
              <a:buNone/>
            </a:pPr>
            <a:r>
              <a:rPr b="0" i="0" lang="en-US" sz="950" u="none" cap="none" strike="noStrike">
                <a:solidFill>
                  <a:srgbClr val="CFE8E6"/>
                </a:solidFill>
                <a:latin typeface="Courier New"/>
                <a:ea typeface="Courier New"/>
                <a:cs typeface="Courier New"/>
                <a:sym typeface="Courier New"/>
              </a:rPr>
              <a:t>endfacet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" name="Google Shape;44;p2"/>
          <p:cNvSpPr/>
          <p:nvPr/>
        </p:nvSpPr>
        <p:spPr>
          <a:xfrm>
            <a:off x="640080" y="6400800"/>
            <a:ext cx="45720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C7077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5C7077"/>
                </a:solidFill>
                <a:latin typeface="Calibri"/>
                <a:ea typeface="Calibri"/>
                <a:cs typeface="Calibri"/>
                <a:sym typeface="Calibri"/>
              </a:rPr>
              <a:t>University of Salzburg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" name="Google Shape;45;p2"/>
          <p:cNvSpPr/>
          <p:nvPr/>
        </p:nvSpPr>
        <p:spPr>
          <a:xfrm>
            <a:off x="10728655" y="6400800"/>
            <a:ext cx="8229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5C7077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5C7077"/>
                </a:solidFill>
                <a:latin typeface="Calibri"/>
                <a:ea typeface="Calibri"/>
                <a:cs typeface="Calibri"/>
                <a:sym typeface="Calibri"/>
              </a:rPr>
              <a:t>2 / </a:t>
            </a:r>
            <a:r>
              <a:rPr lang="en-US" sz="1100">
                <a:solidFill>
                  <a:srgbClr val="5C7077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4F7F7"/>
        </a:solid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3"/>
          <p:cNvSpPr/>
          <p:nvPr/>
        </p:nvSpPr>
        <p:spPr>
          <a:xfrm>
            <a:off x="640080" y="457200"/>
            <a:ext cx="100584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E2A38"/>
              </a:buClr>
              <a:buSzPts val="3200"/>
              <a:buFont typeface="Bookman Old Style"/>
              <a:buNone/>
            </a:pPr>
            <a:r>
              <a:rPr b="1" i="0" lang="en-US" sz="3200" u="none" cap="none" strike="noStrike">
                <a:solidFill>
                  <a:srgbClr val="0E2A38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Building the slicer with AI</a:t>
            </a:r>
            <a:endParaRPr b="0"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" name="Google Shape;52;p3"/>
          <p:cNvSpPr/>
          <p:nvPr/>
        </p:nvSpPr>
        <p:spPr>
          <a:xfrm>
            <a:off x="640080" y="1417320"/>
            <a:ext cx="2743200" cy="914400"/>
          </a:xfrm>
          <a:prstGeom prst="roundRect">
            <a:avLst>
              <a:gd fmla="val 8000" name="adj"/>
            </a:avLst>
          </a:prstGeom>
          <a:solidFill>
            <a:srgbClr val="FFFFFF"/>
          </a:solidFill>
          <a:ln cap="flat" cmpd="sng" w="15875">
            <a:solidFill>
              <a:srgbClr val="0E7C86"/>
            </a:solidFill>
            <a:prstDash val="solid"/>
            <a:round/>
            <a:headEnd len="sm" w="sm" type="none"/>
            <a:tailEnd len="sm" w="sm" type="none"/>
          </a:ln>
          <a:effectLst>
            <a:outerShdw blurRad="88900" rotWithShape="0" algn="bl" dir="2700000" dist="38100">
              <a:srgbClr val="000000">
                <a:alpha val="1607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3" name="Google Shape;53;p3"/>
          <p:cNvSpPr/>
          <p:nvPr/>
        </p:nvSpPr>
        <p:spPr>
          <a:xfrm>
            <a:off x="640080" y="1417320"/>
            <a:ext cx="27432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E2A38"/>
              </a:buClr>
              <a:buSzPts val="1800"/>
              <a:buFont typeface="Calibri"/>
              <a:buNone/>
            </a:pPr>
            <a:r>
              <a:rPr b="1" i="0" lang="en-US" sz="1800" u="none" cap="none" strike="noStrike">
                <a:solidFill>
                  <a:srgbClr val="0E2A38"/>
                </a:solidFill>
                <a:latin typeface="Calibri"/>
                <a:ea typeface="Calibri"/>
                <a:cs typeface="Calibri"/>
                <a:sym typeface="Calibri"/>
              </a:rPr>
              <a:t>STL</a:t>
            </a:r>
            <a:br>
              <a:rPr b="1" i="0" lang="en-US" sz="1800" u="none" cap="none" strike="noStrike">
                <a:solidFill>
                  <a:srgbClr val="0E2A38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C7077"/>
              </a:buClr>
              <a:buSzPts val="1250"/>
              <a:buFont typeface="Calibri"/>
              <a:buNone/>
            </a:pPr>
            <a:r>
              <a:rPr b="0" i="0" lang="en-US" sz="1250" u="none" cap="none" strike="noStrike">
                <a:solidFill>
                  <a:srgbClr val="5C7077"/>
                </a:solidFill>
                <a:latin typeface="Calibri"/>
                <a:ea typeface="Calibri"/>
                <a:cs typeface="Calibri"/>
                <a:sym typeface="Calibri"/>
              </a:rPr>
              <a:t>triangle soup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" name="Google Shape;54;p3"/>
          <p:cNvSpPr/>
          <p:nvPr/>
        </p:nvSpPr>
        <p:spPr>
          <a:xfrm>
            <a:off x="3383280" y="1417320"/>
            <a:ext cx="9144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E8853A"/>
              </a:buClr>
              <a:buSzPts val="3000"/>
              <a:buFont typeface="Calibri"/>
              <a:buNone/>
            </a:pPr>
            <a:r>
              <a:rPr b="1" i="0" lang="en-US" sz="3000" u="none" cap="none" strike="noStrike">
                <a:solidFill>
                  <a:srgbClr val="E8853A"/>
                </a:solidFill>
                <a:latin typeface="Calibri"/>
                <a:ea typeface="Calibri"/>
                <a:cs typeface="Calibri"/>
                <a:sym typeface="Calibri"/>
              </a:rPr>
              <a:t>→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" name="Google Shape;55;p3"/>
          <p:cNvSpPr/>
          <p:nvPr/>
        </p:nvSpPr>
        <p:spPr>
          <a:xfrm>
            <a:off x="4297680" y="1417320"/>
            <a:ext cx="2743200" cy="914400"/>
          </a:xfrm>
          <a:prstGeom prst="roundRect">
            <a:avLst>
              <a:gd fmla="val 8000" name="adj"/>
            </a:avLst>
          </a:prstGeom>
          <a:solidFill>
            <a:srgbClr val="FFFFFF"/>
          </a:solidFill>
          <a:ln cap="flat" cmpd="sng" w="15875">
            <a:solidFill>
              <a:srgbClr val="0E7C86"/>
            </a:solidFill>
            <a:prstDash val="solid"/>
            <a:round/>
            <a:headEnd len="sm" w="sm" type="none"/>
            <a:tailEnd len="sm" w="sm" type="none"/>
          </a:ln>
          <a:effectLst>
            <a:outerShdw blurRad="88900" rotWithShape="0" algn="bl" dir="2700000" dist="38100">
              <a:srgbClr val="000000">
                <a:alpha val="1607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6" name="Google Shape;56;p3"/>
          <p:cNvSpPr/>
          <p:nvPr/>
        </p:nvSpPr>
        <p:spPr>
          <a:xfrm>
            <a:off x="4297680" y="1417320"/>
            <a:ext cx="27432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E2A38"/>
              </a:buClr>
              <a:buSzPts val="1800"/>
              <a:buFont typeface="Calibri"/>
              <a:buNone/>
            </a:pPr>
            <a:r>
              <a:rPr b="1" i="0" lang="en-US" sz="1800" u="none" cap="none" strike="noStrike">
                <a:solidFill>
                  <a:srgbClr val="0E2A38"/>
                </a:solidFill>
                <a:latin typeface="Calibri"/>
                <a:ea typeface="Calibri"/>
                <a:cs typeface="Calibri"/>
                <a:sym typeface="Calibri"/>
              </a:rPr>
              <a:t>JSON</a:t>
            </a:r>
            <a:br>
              <a:rPr b="1" i="0" lang="en-US" sz="1800" u="none" cap="none" strike="noStrike">
                <a:solidFill>
                  <a:srgbClr val="0E2A38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C7077"/>
              </a:buClr>
              <a:buSzPts val="1250"/>
              <a:buFont typeface="Calibri"/>
              <a:buNone/>
            </a:pPr>
            <a:r>
              <a:rPr b="0" i="0" lang="en-US" sz="1250" u="none" cap="none" strike="noStrike">
                <a:solidFill>
                  <a:srgbClr val="5C7077"/>
                </a:solidFill>
                <a:latin typeface="Calibri"/>
                <a:ea typeface="Calibri"/>
                <a:cs typeface="Calibri"/>
                <a:sym typeface="Calibri"/>
              </a:rPr>
              <a:t>ordered contours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" name="Google Shape;57;p3"/>
          <p:cNvSpPr/>
          <p:nvPr/>
        </p:nvSpPr>
        <p:spPr>
          <a:xfrm>
            <a:off x="7040880" y="1417320"/>
            <a:ext cx="9144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E8853A"/>
              </a:buClr>
              <a:buSzPts val="3000"/>
              <a:buFont typeface="Calibri"/>
              <a:buNone/>
            </a:pPr>
            <a:r>
              <a:rPr b="1" i="0" lang="en-US" sz="3000" u="none" cap="none" strike="noStrike">
                <a:solidFill>
                  <a:srgbClr val="E8853A"/>
                </a:solidFill>
                <a:latin typeface="Calibri"/>
                <a:ea typeface="Calibri"/>
                <a:cs typeface="Calibri"/>
                <a:sym typeface="Calibri"/>
              </a:rPr>
              <a:t>→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" name="Google Shape;58;p3"/>
          <p:cNvSpPr/>
          <p:nvPr/>
        </p:nvSpPr>
        <p:spPr>
          <a:xfrm>
            <a:off x="7955280" y="1417320"/>
            <a:ext cx="2743200" cy="914400"/>
          </a:xfrm>
          <a:prstGeom prst="roundRect">
            <a:avLst>
              <a:gd fmla="val 8000" name="adj"/>
            </a:avLst>
          </a:prstGeom>
          <a:solidFill>
            <a:srgbClr val="0E7C86"/>
          </a:solidFill>
          <a:ln cap="flat" cmpd="sng" w="15875">
            <a:solidFill>
              <a:srgbClr val="0E7C86"/>
            </a:solidFill>
            <a:prstDash val="solid"/>
            <a:round/>
            <a:headEnd len="sm" w="sm" type="none"/>
            <a:tailEnd len="sm" w="sm" type="none"/>
          </a:ln>
          <a:effectLst>
            <a:outerShdw blurRad="88900" rotWithShape="0" algn="bl" dir="2700000" dist="38100">
              <a:srgbClr val="000000">
                <a:alpha val="1607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9" name="Google Shape;59;p3"/>
          <p:cNvSpPr/>
          <p:nvPr/>
        </p:nvSpPr>
        <p:spPr>
          <a:xfrm>
            <a:off x="7955280" y="1417320"/>
            <a:ext cx="27432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Calibri"/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G-code</a:t>
            </a:r>
            <a:br>
              <a:rPr b="1" i="0" lang="en-US" sz="1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FE8E6"/>
              </a:buClr>
              <a:buSzPts val="1250"/>
              <a:buFont typeface="Calibri"/>
              <a:buNone/>
            </a:pPr>
            <a:r>
              <a:rPr b="0" i="0" lang="en-US" sz="1250" u="none" cap="none" strike="noStrike">
                <a:solidFill>
                  <a:srgbClr val="CFE8E6"/>
                </a:solidFill>
                <a:latin typeface="Calibri"/>
                <a:ea typeface="Calibri"/>
                <a:cs typeface="Calibri"/>
                <a:sym typeface="Calibri"/>
              </a:rPr>
              <a:t>printer commands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" name="Google Shape;60;p3"/>
          <p:cNvSpPr/>
          <p:nvPr/>
        </p:nvSpPr>
        <p:spPr>
          <a:xfrm>
            <a:off x="640080" y="2514600"/>
            <a:ext cx="10972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C7077"/>
              </a:buClr>
              <a:buSzPts val="1500"/>
              <a:buFont typeface="Calibri"/>
              <a:buNone/>
            </a:pPr>
            <a:r>
              <a:rPr b="0" i="1" lang="en-US" sz="1500" u="none" cap="none" strike="noStrike">
                <a:solidFill>
                  <a:srgbClr val="5C7077"/>
                </a:solidFill>
                <a:latin typeface="Calibri"/>
                <a:ea typeface="Calibri"/>
                <a:cs typeface="Calibri"/>
                <a:sym typeface="Calibri"/>
              </a:rPr>
              <a:t>~2,700 lines of Go — every line written by AI from natural-language prompts.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" name="Google Shape;61;p3"/>
          <p:cNvSpPr/>
          <p:nvPr/>
        </p:nvSpPr>
        <p:spPr>
          <a:xfrm>
            <a:off x="640080" y="3520440"/>
            <a:ext cx="4937760" cy="1828800"/>
          </a:xfrm>
          <a:prstGeom prst="roundRect">
            <a:avLst>
              <a:gd fmla="val 4000" name="adj"/>
            </a:avLst>
          </a:prstGeom>
          <a:solidFill>
            <a:srgbClr val="FFFFFF"/>
          </a:solidFill>
          <a:ln cap="flat" cmpd="sng" w="12700">
            <a:solidFill>
              <a:srgbClr val="CFE8E6"/>
            </a:solidFill>
            <a:prstDash val="solid"/>
            <a:round/>
            <a:headEnd len="sm" w="sm" type="none"/>
            <a:tailEnd len="sm" w="sm" type="none"/>
          </a:ln>
          <a:effectLst>
            <a:outerShdw blurRad="88900" rotWithShape="0" algn="bl" dir="2700000" dist="38100">
              <a:srgbClr val="000000">
                <a:alpha val="1607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2" name="Google Shape;62;p3"/>
          <p:cNvSpPr/>
          <p:nvPr/>
        </p:nvSpPr>
        <p:spPr>
          <a:xfrm>
            <a:off x="640080" y="3776472"/>
            <a:ext cx="493776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E7C86"/>
              </a:buClr>
              <a:buSzPts val="5200"/>
              <a:buFont typeface="Bookman Old Style"/>
              <a:buNone/>
            </a:pPr>
            <a:r>
              <a:rPr b="1" i="0" lang="en-US" sz="5200" u="none" cap="none" strike="noStrike">
                <a:solidFill>
                  <a:srgbClr val="0E7C86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44</a:t>
            </a:r>
            <a:endParaRPr b="0" i="0" sz="5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" name="Google Shape;63;p3"/>
          <p:cNvSpPr/>
          <p:nvPr/>
        </p:nvSpPr>
        <p:spPr>
          <a:xfrm>
            <a:off x="822960" y="4617720"/>
            <a:ext cx="4572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B2A30"/>
              </a:buClr>
              <a:buSzPts val="1500"/>
              <a:buFont typeface="Calibri"/>
              <a:buNone/>
            </a:pPr>
            <a:r>
              <a:rPr b="1" i="0" lang="en-US" sz="1500" u="none" cap="none" strike="noStrike">
                <a:solidFill>
                  <a:srgbClr val="1B2A30"/>
                </a:solidFill>
                <a:latin typeface="Calibri"/>
                <a:ea typeface="Calibri"/>
                <a:cs typeface="Calibri"/>
                <a:sym typeface="Calibri"/>
              </a:rPr>
              <a:t>prompts kept</a:t>
            </a:r>
            <a:r>
              <a:rPr b="0" i="0" lang="en-US" sz="1500" u="none" cap="none" strike="noStrike">
                <a:solidFill>
                  <a:srgbClr val="1B2A30"/>
                </a:solidFill>
                <a:latin typeface="Calibri"/>
                <a:ea typeface="Calibri"/>
                <a:cs typeface="Calibri"/>
                <a:sym typeface="Calibri"/>
              </a:rPr>
              <a:t> — out of 150+ issued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" name="Google Shape;64;p3"/>
          <p:cNvSpPr/>
          <p:nvPr/>
        </p:nvSpPr>
        <p:spPr>
          <a:xfrm>
            <a:off x="822960" y="4937760"/>
            <a:ext cx="457200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C7077"/>
              </a:buClr>
              <a:buSzPts val="1300"/>
              <a:buFont typeface="Calibri"/>
              <a:buNone/>
            </a:pPr>
            <a:r>
              <a:rPr b="0" i="1" lang="en-US" sz="1300" u="none" cap="none" strike="noStrike">
                <a:solidFill>
                  <a:srgbClr val="5C7077"/>
                </a:solidFill>
                <a:latin typeface="Calibri"/>
                <a:ea typeface="Calibri"/>
                <a:cs typeface="Calibri"/>
                <a:sym typeface="Calibri"/>
              </a:rPr>
              <a:t>30 remain in the live code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" name="Google Shape;65;p3"/>
          <p:cNvSpPr/>
          <p:nvPr/>
        </p:nvSpPr>
        <p:spPr>
          <a:xfrm>
            <a:off x="5943600" y="3520440"/>
            <a:ext cx="5608015" cy="1828800"/>
          </a:xfrm>
          <a:prstGeom prst="roundRect">
            <a:avLst>
              <a:gd fmla="val 4000" name="adj"/>
            </a:avLst>
          </a:prstGeom>
          <a:solidFill>
            <a:srgbClr val="FFFFFF"/>
          </a:solidFill>
          <a:ln cap="flat" cmpd="sng" w="12700">
            <a:solidFill>
              <a:srgbClr val="CFE8E6"/>
            </a:solidFill>
            <a:prstDash val="solid"/>
            <a:round/>
            <a:headEnd len="sm" w="sm" type="none"/>
            <a:tailEnd len="sm" w="sm" type="none"/>
          </a:ln>
          <a:effectLst>
            <a:outerShdw blurRad="88900" rotWithShape="0" algn="bl" dir="2700000" dist="38100">
              <a:srgbClr val="000000">
                <a:alpha val="1607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" name="Google Shape;66;p3"/>
          <p:cNvSpPr/>
          <p:nvPr/>
        </p:nvSpPr>
        <p:spPr>
          <a:xfrm>
            <a:off x="5943600" y="3502152"/>
            <a:ext cx="56079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C7077"/>
              </a:buClr>
              <a:buSzPts val="1600"/>
              <a:buFont typeface="Calibri"/>
              <a:buNone/>
            </a:pPr>
            <a:r>
              <a:rPr b="1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AI models used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" name="Google Shape;67;p3"/>
          <p:cNvSpPr/>
          <p:nvPr/>
        </p:nvSpPr>
        <p:spPr>
          <a:xfrm>
            <a:off x="5943600" y="3959352"/>
            <a:ext cx="5607900" cy="502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E2A38"/>
              </a:buClr>
              <a:buSzPts val="1900"/>
              <a:buFont typeface="Calibri"/>
              <a:buNone/>
            </a:pPr>
            <a:r>
              <a:rPr b="1" i="0" lang="en-US" sz="1900" u="none" cap="none" strike="noStrike">
                <a:solidFill>
                  <a:srgbClr val="0E7C86"/>
                </a:solidFill>
                <a:latin typeface="Calibri"/>
                <a:ea typeface="Calibri"/>
                <a:cs typeface="Calibri"/>
                <a:sym typeface="Calibri"/>
              </a:rPr>
              <a:t>GPT-5.3 Code</a:t>
            </a:r>
            <a:r>
              <a:rPr b="1" i="0" lang="en-US" sz="1900" u="none" cap="none" strike="noStrike">
                <a:solidFill>
                  <a:srgbClr val="0E7C86"/>
                </a:solidFill>
                <a:latin typeface="Calibri"/>
                <a:ea typeface="Calibri"/>
                <a:cs typeface="Calibri"/>
                <a:sym typeface="Calibri"/>
              </a:rPr>
              <a:t>x</a:t>
            </a:r>
            <a:endParaRPr b="0" i="0" sz="1900" u="none" cap="none" strike="noStrike">
              <a:solidFill>
                <a:srgbClr val="0E7C8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C7077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5C7077"/>
                </a:solidFill>
                <a:latin typeface="Calibri"/>
                <a:ea typeface="Calibri"/>
                <a:cs typeface="Calibri"/>
                <a:sym typeface="Calibri"/>
              </a:rPr>
              <a:t>early development phase</a:t>
            </a:r>
            <a:endParaRPr b="0" i="0" sz="1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" name="Google Shape;68;p3"/>
          <p:cNvSpPr/>
          <p:nvPr/>
        </p:nvSpPr>
        <p:spPr>
          <a:xfrm>
            <a:off x="5943600" y="4526280"/>
            <a:ext cx="5607900" cy="502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E2A38"/>
              </a:buClr>
              <a:buSzPts val="1900"/>
              <a:buFont typeface="Calibri"/>
              <a:buNone/>
            </a:pPr>
            <a:r>
              <a:rPr b="1" i="0" lang="en-US" sz="1900" u="none" cap="none" strike="noStrike">
                <a:solidFill>
                  <a:srgbClr val="0E7C86"/>
                </a:solidFill>
                <a:latin typeface="Calibri"/>
                <a:ea typeface="Calibri"/>
                <a:cs typeface="Calibri"/>
                <a:sym typeface="Calibri"/>
              </a:rPr>
              <a:t>GPT-5.4-mini</a:t>
            </a:r>
            <a:endParaRPr b="0" i="0" sz="1900" u="none" cap="none" strike="noStrike">
              <a:solidFill>
                <a:srgbClr val="0E7C8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C7077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5C7077"/>
                </a:solidFill>
                <a:latin typeface="Calibri"/>
                <a:ea typeface="Calibri"/>
                <a:cs typeface="Calibri"/>
                <a:sym typeface="Calibri"/>
              </a:rPr>
              <a:t>later phase</a:t>
            </a:r>
            <a:endParaRPr b="0" i="0" sz="1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" name="Google Shape;69;p3"/>
          <p:cNvSpPr/>
          <p:nvPr/>
        </p:nvSpPr>
        <p:spPr>
          <a:xfrm>
            <a:off x="640080" y="6400800"/>
            <a:ext cx="45720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C7077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5C7077"/>
                </a:solidFill>
                <a:latin typeface="Calibri"/>
                <a:ea typeface="Calibri"/>
                <a:cs typeface="Calibri"/>
                <a:sym typeface="Calibri"/>
              </a:rPr>
              <a:t>University of Salzburg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" name="Google Shape;70;p3"/>
          <p:cNvSpPr/>
          <p:nvPr/>
        </p:nvSpPr>
        <p:spPr>
          <a:xfrm>
            <a:off x="10728655" y="6400800"/>
            <a:ext cx="8229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5C7077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5C7077"/>
                </a:solidFill>
                <a:latin typeface="Calibri"/>
                <a:ea typeface="Calibri"/>
                <a:cs typeface="Calibri"/>
                <a:sym typeface="Calibri"/>
              </a:rPr>
              <a:t>3 / </a:t>
            </a:r>
            <a:r>
              <a:rPr lang="en-US" sz="1100">
                <a:solidFill>
                  <a:srgbClr val="5C7077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4F7F7"/>
        </a:solidFill>
      </p:bgPr>
    </p:bg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4"/>
          <p:cNvSpPr/>
          <p:nvPr/>
        </p:nvSpPr>
        <p:spPr>
          <a:xfrm>
            <a:off x="640080" y="457200"/>
            <a:ext cx="109728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E2A38"/>
              </a:buClr>
              <a:buSzPts val="3200"/>
              <a:buFont typeface="Bookman Old Style"/>
              <a:buNone/>
            </a:pPr>
            <a:r>
              <a:rPr b="1" i="0" lang="en-US" sz="3200" u="none" cap="none" strike="noStrike">
                <a:solidFill>
                  <a:srgbClr val="0E2A38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Results: the numbers</a:t>
            </a:r>
            <a:endParaRPr b="0"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" name="Google Shape;77;p4"/>
          <p:cNvSpPr/>
          <p:nvPr/>
        </p:nvSpPr>
        <p:spPr>
          <a:xfrm>
            <a:off x="640080" y="1097280"/>
            <a:ext cx="10972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C7077"/>
              </a:buClr>
              <a:buSzPts val="1400"/>
              <a:buFont typeface="Calibri"/>
              <a:buNone/>
            </a:pPr>
            <a:r>
              <a:rPr b="0" i="1" lang="en-US" sz="1400" u="none" cap="none" strike="noStrike">
                <a:solidFill>
                  <a:srgbClr val="5C7077"/>
                </a:solidFill>
                <a:latin typeface="Calibri"/>
                <a:ea typeface="Calibri"/>
                <a:cs typeface="Calibri"/>
                <a:sym typeface="Calibri"/>
              </a:rPr>
              <a:t>Mean deviation from nominal (in mm, rounded) with per-axis breakdown, and mean print time, vs. Ultimaker Cura. 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78" name="Google Shape;78;p4"/>
          <p:cNvGraphicFramePr/>
          <p:nvPr/>
        </p:nvGraphicFramePr>
        <p:xfrm>
          <a:off x="640080" y="164592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{79D9FD0F-E175-438F-B7BA-668FD9863F88}</a:tableStyleId>
              </a:tblPr>
              <a:tblGrid>
                <a:gridCol w="2423150"/>
                <a:gridCol w="2834650"/>
                <a:gridCol w="2834650"/>
                <a:gridCol w="2834650"/>
              </a:tblGrid>
              <a:tr h="457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250"/>
                        <a:buFont typeface="Calibri"/>
                        <a:buNone/>
                      </a:pPr>
                      <a:r>
                        <a:rPr b="1" lang="en-US" sz="125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Object</a:t>
                      </a:r>
                      <a:r>
                        <a:rPr b="1" lang="en-US" sz="125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·  Dev. / Time / per-axis</a:t>
                      </a:r>
                      <a:endParaRPr sz="12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D5E3E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5E3E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5E3E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5E3E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E2A3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300"/>
                        <a:buFont typeface="Calibri"/>
                        <a:buNone/>
                      </a:pPr>
                      <a:r>
                        <a:rPr b="1" lang="en-US" sz="13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Cura matched</a:t>
                      </a:r>
                      <a:endParaRPr sz="13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D5E3E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5E3E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5E3E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5E3E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E7C8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300"/>
                        <a:buFont typeface="Calibri"/>
                        <a:buNone/>
                      </a:pPr>
                      <a:r>
                        <a:rPr b="1" lang="en-US" sz="13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Vibe Slicer</a:t>
                      </a:r>
                      <a:endParaRPr sz="13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D5E3E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5E3E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5E3E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5E3E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E7C8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300"/>
                        <a:buFont typeface="Calibri"/>
                        <a:buNone/>
                      </a:pPr>
                      <a:r>
                        <a:rPr b="1" lang="en-US" sz="13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Cura opt. (ref.)</a:t>
                      </a:r>
                      <a:endParaRPr sz="13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D5E3E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5E3E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5E3E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5E3E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E7C86"/>
                    </a:solidFill>
                  </a:tcPr>
                </a:tc>
              </a:tr>
              <a:tr h="7863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E2A38"/>
                        </a:buClr>
                        <a:buSzPts val="1350"/>
                        <a:buFont typeface="Calibri"/>
                        <a:buNone/>
                      </a:pPr>
                      <a:r>
                        <a:rPr b="1" lang="en-US" sz="1350" u="none" cap="none" strike="noStrike">
                          <a:solidFill>
                            <a:srgbClr val="0E2A3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cube outer</a:t>
                      </a:r>
                      <a:endParaRPr sz="13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D5E3E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5E3E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5E3E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5E3E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2A30"/>
                        </a:buClr>
                        <a:buSzPts val="1350"/>
                        <a:buFont typeface="Calibri"/>
                        <a:buNone/>
                      </a:pPr>
                      <a:r>
                        <a:rPr b="1" lang="en-US" sz="1350" u="none" cap="none" strike="noStrike">
                          <a:solidFill>
                            <a:srgbClr val="1B2A3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+0.06 / 09:04</a:t>
                      </a:r>
                      <a:endParaRPr sz="12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5C7077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u="none" cap="none" strike="noStrike">
                          <a:solidFill>
                            <a:srgbClr val="5C707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X +0.02  Y +0.13  Z +0.02</a:t>
                      </a:r>
                      <a:endParaRPr sz="12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D5E3E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5E3E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5E3E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5E3E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2A30"/>
                        </a:buClr>
                        <a:buSzPts val="1350"/>
                        <a:buFont typeface="Calibri"/>
                        <a:buNone/>
                      </a:pPr>
                      <a:r>
                        <a:rPr b="1" lang="en-US" sz="1350" u="none" cap="none" strike="noStrike">
                          <a:solidFill>
                            <a:srgbClr val="1B2A3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+0.06 / 07:47</a:t>
                      </a:r>
                      <a:endParaRPr sz="12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5C7077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u="none" cap="none" strike="noStrike">
                          <a:solidFill>
                            <a:srgbClr val="5C707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X +0.03  Y +0.15  Z +0.01</a:t>
                      </a:r>
                      <a:endParaRPr sz="12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D5E3E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5E3E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5E3E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5E3E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2A30"/>
                        </a:buClr>
                        <a:buSzPts val="1350"/>
                        <a:buFont typeface="Calibri"/>
                        <a:buNone/>
                      </a:pPr>
                      <a:r>
                        <a:rPr b="1" lang="en-US" sz="1350" u="none" cap="none" strike="noStrike">
                          <a:solidFill>
                            <a:srgbClr val="1B2A3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−0.01 / 11:32</a:t>
                      </a:r>
                      <a:endParaRPr sz="12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5C7077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u="none" cap="none" strike="noStrike">
                          <a:solidFill>
                            <a:srgbClr val="5C707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X −0.03  Y −0.01  Z +0.01</a:t>
                      </a:r>
                      <a:endParaRPr sz="12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D5E3E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5E3E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5E3E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5E3E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CCCCC"/>
                    </a:solidFill>
                  </a:tcPr>
                </a:tc>
              </a:tr>
              <a:tr h="7863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E2A38"/>
                        </a:buClr>
                        <a:buSzPts val="1350"/>
                        <a:buFont typeface="Calibri"/>
                        <a:buNone/>
                      </a:pPr>
                      <a:r>
                        <a:rPr b="1" lang="en-US" sz="1350" u="none" cap="none" strike="noStrike">
                          <a:solidFill>
                            <a:srgbClr val="0E2A3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Hole outer</a:t>
                      </a:r>
                      <a:endParaRPr sz="13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D5E3E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5E3E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5E3E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5E3E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2A30"/>
                        </a:buClr>
                        <a:buSzPts val="1350"/>
                        <a:buFont typeface="Calibri"/>
                        <a:buNone/>
                      </a:pPr>
                      <a:r>
                        <a:rPr b="1" lang="en-US" sz="1350" u="none" cap="none" strike="noStrike">
                          <a:solidFill>
                            <a:srgbClr val="1B2A3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+0.08 / 28:33</a:t>
                      </a:r>
                      <a:endParaRPr sz="12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5C7077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u="none" cap="none" strike="noStrike">
                          <a:solidFill>
                            <a:srgbClr val="5C707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X −0.02  Y +0.30  Z −0.05</a:t>
                      </a:r>
                      <a:endParaRPr sz="12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D5E3E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5E3E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5E3E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5E3E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2A30"/>
                        </a:buClr>
                        <a:buSzPts val="1350"/>
                        <a:buFont typeface="Calibri"/>
                        <a:buNone/>
                      </a:pPr>
                      <a:r>
                        <a:rPr b="1" lang="en-US" sz="1350" u="none" cap="none" strike="noStrike">
                          <a:solidFill>
                            <a:srgbClr val="1B2A3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+0.07 </a:t>
                      </a:r>
                      <a:r>
                        <a:rPr b="1" lang="en-US" sz="1350">
                          <a:solidFill>
                            <a:srgbClr val="1B2A3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/</a:t>
                      </a:r>
                      <a:r>
                        <a:rPr b="1" lang="en-US" sz="1350" u="none" cap="none" strike="noStrike">
                          <a:solidFill>
                            <a:srgbClr val="1B2A3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46:12</a:t>
                      </a:r>
                      <a:endParaRPr sz="12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5C7077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u="none" cap="none" strike="noStrike">
                          <a:solidFill>
                            <a:srgbClr val="5C707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X −0.08  Y +0.30  Z −0.01</a:t>
                      </a:r>
                      <a:endParaRPr sz="12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D5E3E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5E3E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5E3E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5E3E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2A30"/>
                        </a:buClr>
                        <a:buSzPts val="1350"/>
                        <a:buFont typeface="Calibri"/>
                        <a:buNone/>
                      </a:pPr>
                      <a:r>
                        <a:rPr b="1" lang="en-US" sz="1350" u="none" cap="none" strike="noStrike">
                          <a:solidFill>
                            <a:srgbClr val="1B2A3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+0.03 / 31:47</a:t>
                      </a:r>
                      <a:endParaRPr sz="12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5C7077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u="none" cap="none" strike="noStrike">
                          <a:solidFill>
                            <a:srgbClr val="5C707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X −0.03  Y +0.16  Z −0.03</a:t>
                      </a:r>
                      <a:endParaRPr sz="12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D5E3E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5E3E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5E3E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5E3E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CCCCC"/>
                    </a:solidFill>
                  </a:tcPr>
                </a:tc>
              </a:tr>
              <a:tr h="7863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E2A38"/>
                        </a:buClr>
                        <a:buSzPts val="1350"/>
                        <a:buFont typeface="Calibri"/>
                        <a:buNone/>
                      </a:pPr>
                      <a:r>
                        <a:rPr b="1" lang="en-US" sz="1350" u="none" cap="none" strike="noStrike">
                          <a:solidFill>
                            <a:srgbClr val="0E2A3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 mm hole</a:t>
                      </a:r>
                      <a:endParaRPr sz="13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D5E3E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5E3E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5E3E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5E3E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2A30"/>
                        </a:buClr>
                        <a:buSzPts val="1350"/>
                        <a:buFont typeface="Calibri"/>
                        <a:buNone/>
                      </a:pPr>
                      <a:r>
                        <a:rPr b="1" lang="en-US" sz="1350" u="none" cap="none" strike="noStrike">
                          <a:solidFill>
                            <a:srgbClr val="1B2A3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−0.05</a:t>
                      </a:r>
                      <a:endParaRPr sz="12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5C7077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u="none" cap="none" strike="noStrike">
                          <a:solidFill>
                            <a:srgbClr val="5C707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X −0.07  Y −0.03</a:t>
                      </a:r>
                      <a:endParaRPr sz="12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D5E3E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5E3E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5E3E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5E3E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2A30"/>
                        </a:buClr>
                        <a:buSzPts val="1350"/>
                        <a:buFont typeface="Calibri"/>
                        <a:buNone/>
                      </a:pPr>
                      <a:r>
                        <a:rPr b="1" lang="en-US" sz="1350" u="none" cap="none" strike="noStrike">
                          <a:solidFill>
                            <a:srgbClr val="1B2A3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−0.10  </a:t>
                      </a:r>
                      <a:endParaRPr sz="12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5C7077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u="none" cap="none" strike="noStrike">
                          <a:solidFill>
                            <a:srgbClr val="5C707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X −0.17  Y −0.02</a:t>
                      </a:r>
                      <a:endParaRPr sz="12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D5E3E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5E3E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5E3E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5E3E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2A30"/>
                        </a:buClr>
                        <a:buSzPts val="1350"/>
                        <a:buFont typeface="Calibri"/>
                        <a:buNone/>
                      </a:pPr>
                      <a:r>
                        <a:rPr b="1" lang="en-US" sz="1350" u="none" cap="none" strike="noStrike">
                          <a:solidFill>
                            <a:srgbClr val="1B2A3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−0.01  </a:t>
                      </a:r>
                      <a:endParaRPr sz="12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5C7077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u="none" cap="none" strike="noStrike">
                          <a:solidFill>
                            <a:srgbClr val="5C707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X −0.01  Y  0.00</a:t>
                      </a:r>
                      <a:endParaRPr sz="12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D5E3E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5E3E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5E3E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5E3E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CCCCC"/>
                    </a:solidFill>
                  </a:tcPr>
                </a:tc>
              </a:tr>
              <a:tr h="7863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E2A38"/>
                        </a:buClr>
                        <a:buSzPts val="1350"/>
                        <a:buFont typeface="Calibri"/>
                        <a:buNone/>
                      </a:pPr>
                      <a:r>
                        <a:rPr b="1" lang="en-US" sz="1350" u="none" cap="none" strike="noStrike">
                          <a:solidFill>
                            <a:srgbClr val="0E2A3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20 mm hole</a:t>
                      </a:r>
                      <a:endParaRPr sz="13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D5E3E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5E3E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5E3E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5E3E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2A30"/>
                        </a:buClr>
                        <a:buSzPts val="1350"/>
                        <a:buFont typeface="Calibri"/>
                        <a:buNone/>
                      </a:pPr>
                      <a:r>
                        <a:rPr b="1" lang="en-US" sz="1350" u="none" cap="none" strike="noStrike">
                          <a:solidFill>
                            <a:srgbClr val="1B2A3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−0.07  </a:t>
                      </a:r>
                      <a:endParaRPr sz="12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5C7077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u="none" cap="none" strike="noStrike">
                          <a:solidFill>
                            <a:srgbClr val="5C707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X −0.18  Y +0.04</a:t>
                      </a:r>
                      <a:endParaRPr sz="12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D5E3E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5E3E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5E3E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5E3E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2A30"/>
                        </a:buClr>
                        <a:buSzPts val="1350"/>
                        <a:buFont typeface="Calibri"/>
                        <a:buNone/>
                      </a:pPr>
                      <a:r>
                        <a:rPr b="1" lang="en-US" sz="1350" u="none" cap="none" strike="noStrike">
                          <a:solidFill>
                            <a:srgbClr val="1B2A3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−0.08  </a:t>
                      </a:r>
                      <a:endParaRPr sz="12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5C7077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u="none" cap="none" strike="noStrike">
                          <a:solidFill>
                            <a:srgbClr val="5C707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X −0.16  Y +0.01</a:t>
                      </a:r>
                      <a:endParaRPr sz="12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D5E3E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5E3E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5E3E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5E3E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2A30"/>
                        </a:buClr>
                        <a:buSzPts val="1350"/>
                        <a:buFont typeface="Calibri"/>
                        <a:buNone/>
                      </a:pPr>
                      <a:r>
                        <a:rPr b="1" lang="en-US" sz="1350" u="none" cap="none" strike="noStrike">
                          <a:solidFill>
                            <a:srgbClr val="1B2A3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−0.04  </a:t>
                      </a:r>
                      <a:endParaRPr sz="12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5C7077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u="none" cap="none" strike="noStrike">
                          <a:solidFill>
                            <a:srgbClr val="5C707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X −0.09  Y +0.02</a:t>
                      </a:r>
                      <a:endParaRPr sz="12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D5E3E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5E3E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5E3E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5E3E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CCCCC"/>
                    </a:solidFill>
                  </a:tcPr>
                </a:tc>
              </a:tr>
            </a:tbl>
          </a:graphicData>
        </a:graphic>
      </p:graphicFrame>
      <p:sp>
        <p:nvSpPr>
          <p:cNvPr id="79" name="Google Shape;79;p4"/>
          <p:cNvSpPr/>
          <p:nvPr/>
        </p:nvSpPr>
        <p:spPr>
          <a:xfrm>
            <a:off x="640080" y="5212080"/>
            <a:ext cx="109270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E2A38"/>
              </a:buClr>
              <a:buSzPts val="1400"/>
              <a:buFont typeface="Calibri"/>
              <a:buNone/>
            </a:pPr>
            <a:r>
              <a:rPr b="1" lang="en-US">
                <a:solidFill>
                  <a:srgbClr val="0E2A38"/>
                </a:solidFill>
                <a:latin typeface="Calibri"/>
                <a:ea typeface="Calibri"/>
                <a:cs typeface="Calibri"/>
                <a:sym typeface="Calibri"/>
              </a:rPr>
              <a:t>Summary Vibe Slicer</a:t>
            </a:r>
            <a:r>
              <a:rPr b="1" i="0" lang="en-US" sz="1400" u="none" cap="none" strike="noStrike">
                <a:solidFill>
                  <a:srgbClr val="0E2A38"/>
                </a:solidFill>
                <a:latin typeface="Calibri"/>
                <a:ea typeface="Calibri"/>
                <a:cs typeface="Calibri"/>
                <a:sym typeface="Calibri"/>
              </a:rPr>
              <a:t>:  </a:t>
            </a:r>
            <a:r>
              <a:rPr b="0" i="0" lang="en-US" sz="1400" u="none" cap="none" strike="noStrike">
                <a:solidFill>
                  <a:srgbClr val="1B2A30"/>
                </a:solidFill>
                <a:latin typeface="Calibri"/>
                <a:ea typeface="Calibri"/>
                <a:cs typeface="Calibri"/>
                <a:sym typeface="Calibri"/>
              </a:rPr>
              <a:t>matched accuracy under matched parameters;  </a:t>
            </a:r>
            <a:r>
              <a:rPr b="1" i="0" lang="en-US" sz="1400" u="none" cap="none" strike="noStrike">
                <a:solidFill>
                  <a:srgbClr val="13B0A5"/>
                </a:solidFill>
                <a:latin typeface="Calibri"/>
                <a:ea typeface="Calibri"/>
                <a:cs typeface="Calibri"/>
                <a:sym typeface="Calibri"/>
              </a:rPr>
              <a:t>14% faster</a:t>
            </a:r>
            <a:r>
              <a:rPr b="0" i="0" lang="en-US" sz="1400" u="none" cap="none" strike="noStrike">
                <a:solidFill>
                  <a:srgbClr val="1B2A30"/>
                </a:solidFill>
                <a:latin typeface="Calibri"/>
                <a:ea typeface="Calibri"/>
                <a:cs typeface="Calibri"/>
                <a:sym typeface="Calibri"/>
              </a:rPr>
              <a:t> on the cube,  </a:t>
            </a:r>
            <a:r>
              <a:rPr b="1" i="0" lang="en-US" sz="1400" u="none" cap="none" strike="noStrike">
                <a:solidFill>
                  <a:srgbClr val="E8853A"/>
                </a:solidFill>
                <a:latin typeface="Calibri"/>
                <a:ea typeface="Calibri"/>
                <a:cs typeface="Calibri"/>
                <a:sym typeface="Calibri"/>
              </a:rPr>
              <a:t>62% slower</a:t>
            </a:r>
            <a:r>
              <a:rPr b="0" i="0" lang="en-US" sz="1400" u="none" cap="none" strike="noStrike">
                <a:solidFill>
                  <a:srgbClr val="1B2A30"/>
                </a:solidFill>
                <a:latin typeface="Calibri"/>
                <a:ea typeface="Calibri"/>
                <a:cs typeface="Calibri"/>
                <a:sym typeface="Calibri"/>
              </a:rPr>
              <a:t> on the holed plate.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" name="Google Shape;80;p4"/>
          <p:cNvSpPr/>
          <p:nvPr/>
        </p:nvSpPr>
        <p:spPr>
          <a:xfrm>
            <a:off x="640080" y="5715000"/>
            <a:ext cx="109270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C7077"/>
              </a:buClr>
              <a:buSzPts val="1100"/>
              <a:buFont typeface="Calibri"/>
              <a:buNone/>
            </a:pPr>
            <a:r>
              <a:t/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" name="Google Shape;81;p4"/>
          <p:cNvSpPr/>
          <p:nvPr/>
        </p:nvSpPr>
        <p:spPr>
          <a:xfrm>
            <a:off x="640080" y="6400800"/>
            <a:ext cx="45720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C7077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5C7077"/>
                </a:solidFill>
                <a:latin typeface="Calibri"/>
                <a:ea typeface="Calibri"/>
                <a:cs typeface="Calibri"/>
                <a:sym typeface="Calibri"/>
              </a:rPr>
              <a:t>University of Salzburg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" name="Google Shape;82;p4"/>
          <p:cNvSpPr/>
          <p:nvPr/>
        </p:nvSpPr>
        <p:spPr>
          <a:xfrm>
            <a:off x="10728655" y="6400800"/>
            <a:ext cx="8229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5C7077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5C7077"/>
                </a:solidFill>
                <a:latin typeface="Calibri"/>
                <a:ea typeface="Calibri"/>
                <a:cs typeface="Calibri"/>
                <a:sym typeface="Calibri"/>
              </a:rPr>
              <a:t>4 / </a:t>
            </a:r>
            <a:r>
              <a:rPr lang="en-US" sz="1100">
                <a:solidFill>
                  <a:srgbClr val="5C7077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E2A38"/>
        </a:solidFill>
      </p:bgPr>
    </p:bg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"/>
          <p:cNvSpPr/>
          <p:nvPr/>
        </p:nvSpPr>
        <p:spPr>
          <a:xfrm>
            <a:off x="822960" y="502920"/>
            <a:ext cx="73152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400"/>
              <a:buFont typeface="Bookman Old Style"/>
              <a:buNone/>
            </a:pPr>
            <a:r>
              <a:rPr b="1" i="0" lang="en-US" sz="3400" u="none" cap="none" strike="noStrike">
                <a:solidFill>
                  <a:srgbClr val="FFFFFF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Conclusion</a:t>
            </a:r>
            <a:endParaRPr b="0" i="0" sz="3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" name="Google Shape;89;p6"/>
          <p:cNvSpPr/>
          <p:nvPr/>
        </p:nvSpPr>
        <p:spPr>
          <a:xfrm>
            <a:off x="822960" y="1371600"/>
            <a:ext cx="10515600" cy="1691640"/>
          </a:xfrm>
          <a:prstGeom prst="roundRect">
            <a:avLst>
              <a:gd fmla="val 4324" name="adj"/>
            </a:avLst>
          </a:prstGeom>
          <a:solidFill>
            <a:srgbClr val="14323F"/>
          </a:solidFill>
          <a:ln cap="flat" cmpd="sng" w="12700">
            <a:solidFill>
              <a:srgbClr val="0E7C86"/>
            </a:solidFill>
            <a:prstDash val="solid"/>
            <a:round/>
            <a:headEnd len="sm" w="sm" type="none"/>
            <a:tailEnd len="sm" w="sm" type="none"/>
          </a:ln>
          <a:effectLst>
            <a:outerShdw blurRad="88900" rotWithShape="0" algn="bl" dir="2700000" dist="38100">
              <a:srgbClr val="000000">
                <a:alpha val="1607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0" name="Google Shape;90;p6"/>
          <p:cNvSpPr/>
          <p:nvPr/>
        </p:nvSpPr>
        <p:spPr>
          <a:xfrm>
            <a:off x="1143000" y="1600200"/>
            <a:ext cx="31089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B0A5"/>
              </a:buClr>
              <a:buSzPts val="1600"/>
              <a:buFont typeface="Calibri"/>
              <a:buNone/>
            </a:pPr>
            <a:r>
              <a:rPr b="1" i="0" lang="en-US" sz="1600" u="none" cap="none" strike="noStrike">
                <a:solidFill>
                  <a:srgbClr val="13B0A5"/>
                </a:solidFill>
                <a:latin typeface="Calibri"/>
                <a:ea typeface="Calibri"/>
                <a:cs typeface="Calibri"/>
                <a:sym typeface="Calibri"/>
              </a:rPr>
              <a:t>RQ1 · Feasibility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" name="Google Shape;91;p6"/>
          <p:cNvSpPr/>
          <p:nvPr/>
        </p:nvSpPr>
        <p:spPr>
          <a:xfrm>
            <a:off x="1143000" y="2011680"/>
            <a:ext cx="98755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900"/>
              <a:buFont typeface="Bookman Old Style"/>
              <a:buNone/>
            </a:pPr>
            <a:r>
              <a:rPr b="1" i="0" lang="en-US" sz="1900" u="none" cap="none" strike="noStrike">
                <a:solidFill>
                  <a:srgbClr val="FFFFFF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Yes* — a working slicer</a:t>
            </a:r>
            <a:r>
              <a:rPr b="1" lang="en-US" sz="1900">
                <a:solidFill>
                  <a:srgbClr val="FFFFFF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 can be</a:t>
            </a:r>
            <a:r>
              <a:rPr b="1" i="0" lang="en-US" sz="1900" u="none" cap="none" strike="noStrike">
                <a:solidFill>
                  <a:srgbClr val="FFFFFF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 built entirely by prompting.</a:t>
            </a:r>
            <a:endParaRPr b="0" i="0" sz="1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" name="Google Shape;92;p6"/>
          <p:cNvSpPr/>
          <p:nvPr/>
        </p:nvSpPr>
        <p:spPr>
          <a:xfrm>
            <a:off x="1143000" y="2468880"/>
            <a:ext cx="987552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FE8E6"/>
              </a:buClr>
              <a:buSzPts val="1400"/>
              <a:buFont typeface="Calibri"/>
              <a:buNone/>
            </a:pPr>
            <a:r>
              <a:rPr lang="en-US">
                <a:solidFill>
                  <a:srgbClr val="CFE8E6"/>
                </a:solidFill>
                <a:latin typeface="Calibri"/>
                <a:ea typeface="Calibri"/>
                <a:cs typeface="Calibri"/>
                <a:sym typeface="Calibri"/>
              </a:rPr>
              <a:t>* Very challenging without G-Code experience</a:t>
            </a:r>
            <a:endParaRPr>
              <a:solidFill>
                <a:srgbClr val="CFE8E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FE8E6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CFE8E6"/>
                </a:solidFill>
                <a:latin typeface="Calibri"/>
                <a:ea typeface="Calibri"/>
                <a:cs typeface="Calibri"/>
                <a:sym typeface="Calibri"/>
              </a:rPr>
              <a:t>* Implementing complex shapes purely AI-based proved very difficult with the AI models used.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" name="Google Shape;93;p6"/>
          <p:cNvSpPr/>
          <p:nvPr/>
        </p:nvSpPr>
        <p:spPr>
          <a:xfrm>
            <a:off x="822960" y="3291840"/>
            <a:ext cx="10515600" cy="1691640"/>
          </a:xfrm>
          <a:prstGeom prst="roundRect">
            <a:avLst>
              <a:gd fmla="val 4324" name="adj"/>
            </a:avLst>
          </a:prstGeom>
          <a:solidFill>
            <a:srgbClr val="14323F"/>
          </a:solidFill>
          <a:ln cap="flat" cmpd="sng" w="12700">
            <a:solidFill>
              <a:srgbClr val="0E7C86"/>
            </a:solidFill>
            <a:prstDash val="solid"/>
            <a:round/>
            <a:headEnd len="sm" w="sm" type="none"/>
            <a:tailEnd len="sm" w="sm" type="none"/>
          </a:ln>
          <a:effectLst>
            <a:outerShdw blurRad="88900" rotWithShape="0" algn="bl" dir="2700000" dist="38100">
              <a:srgbClr val="000000">
                <a:alpha val="1607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4" name="Google Shape;94;p6"/>
          <p:cNvSpPr/>
          <p:nvPr/>
        </p:nvSpPr>
        <p:spPr>
          <a:xfrm>
            <a:off x="1143000" y="3520440"/>
            <a:ext cx="31089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B0A5"/>
              </a:buClr>
              <a:buSzPts val="1600"/>
              <a:buFont typeface="Calibri"/>
              <a:buNone/>
            </a:pPr>
            <a:r>
              <a:rPr b="1" i="0" lang="en-US" sz="1600" u="none" cap="none" strike="noStrike">
                <a:solidFill>
                  <a:srgbClr val="13B0A5"/>
                </a:solidFill>
                <a:latin typeface="Calibri"/>
                <a:ea typeface="Calibri"/>
                <a:cs typeface="Calibri"/>
                <a:sym typeface="Calibri"/>
              </a:rPr>
              <a:t>RQ2 · Performance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" name="Google Shape;95;p6"/>
          <p:cNvSpPr/>
          <p:nvPr/>
        </p:nvSpPr>
        <p:spPr>
          <a:xfrm>
            <a:off x="1143000" y="3931920"/>
            <a:ext cx="98755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900"/>
              <a:buFont typeface="Bookman Old Style"/>
              <a:buNone/>
            </a:pPr>
            <a:r>
              <a:rPr b="1" i="0" lang="en-US" sz="1900" u="none" cap="none" strike="noStrike">
                <a:solidFill>
                  <a:srgbClr val="FFFFFF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Comparable accuracy on simple geometry; significantly longer print time on complex parts.</a:t>
            </a:r>
            <a:endParaRPr b="0" i="0" sz="1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" name="Google Shape;96;p6"/>
          <p:cNvSpPr/>
          <p:nvPr/>
        </p:nvSpPr>
        <p:spPr>
          <a:xfrm>
            <a:off x="1143000" y="4480560"/>
            <a:ext cx="9875400" cy="502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FE8E6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CFE8E6"/>
                </a:solidFill>
                <a:latin typeface="Calibri"/>
                <a:ea typeface="Calibri"/>
                <a:cs typeface="Calibri"/>
                <a:sym typeface="Calibri"/>
              </a:rPr>
              <a:t>Same parameters → matched accuracy and a faster cube; 62% slower print time on the holed plate.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" name="Google Shape;97;p6"/>
          <p:cNvSpPr/>
          <p:nvPr/>
        </p:nvSpPr>
        <p:spPr>
          <a:xfrm>
            <a:off x="822960" y="5120640"/>
            <a:ext cx="105156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B0A5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13B0A5"/>
                </a:solidFill>
                <a:latin typeface="Calibri"/>
                <a:ea typeface="Calibri"/>
                <a:cs typeface="Calibri"/>
                <a:sym typeface="Calibri"/>
              </a:rPr>
              <a:t>Open question:  </a:t>
            </a:r>
            <a:r>
              <a:rPr b="0" i="1" lang="en-US" sz="1400" u="none" cap="none" strike="noStrike">
                <a:solidFill>
                  <a:srgbClr val="CFE8E6"/>
                </a:solidFill>
                <a:latin typeface="Calibri"/>
                <a:ea typeface="Calibri"/>
                <a:cs typeface="Calibri"/>
                <a:sym typeface="Calibri"/>
              </a:rPr>
              <a:t>would a different AI model — or handing the AI a geometric library (Clipper2) — handle complex shapes better?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" name="Google Shape;98;p6"/>
          <p:cNvSpPr/>
          <p:nvPr/>
        </p:nvSpPr>
        <p:spPr>
          <a:xfrm>
            <a:off x="822960" y="5715000"/>
            <a:ext cx="100584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8853A"/>
              </a:buClr>
              <a:buSzPts val="2000"/>
              <a:buFont typeface="Calibri"/>
              <a:buNone/>
            </a:pPr>
            <a:r>
              <a:rPr b="1" i="1" lang="en-US" sz="2000" u="none" cap="none" strike="noStrike">
                <a:solidFill>
                  <a:srgbClr val="E8853A"/>
                </a:solidFill>
                <a:latin typeface="Calibri"/>
                <a:ea typeface="Calibri"/>
                <a:cs typeface="Calibri"/>
                <a:sym typeface="Calibri"/>
              </a:rPr>
              <a:t>Next — live demo.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" name="Google Shape;99;p6"/>
          <p:cNvSpPr/>
          <p:nvPr/>
        </p:nvSpPr>
        <p:spPr>
          <a:xfrm>
            <a:off x="640080" y="6400800"/>
            <a:ext cx="45720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FE8E6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CFE8E6"/>
                </a:solidFill>
                <a:latin typeface="Calibri"/>
                <a:ea typeface="Calibri"/>
                <a:cs typeface="Calibri"/>
                <a:sym typeface="Calibri"/>
              </a:rPr>
              <a:t>University of Salzburg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" name="Google Shape;100;p6"/>
          <p:cNvSpPr/>
          <p:nvPr/>
        </p:nvSpPr>
        <p:spPr>
          <a:xfrm>
            <a:off x="10728655" y="6400800"/>
            <a:ext cx="8229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CFE8E6"/>
              </a:buClr>
              <a:buSzPts val="1100"/>
              <a:buFont typeface="Calibri"/>
              <a:buNone/>
            </a:pPr>
            <a:r>
              <a:rPr lang="en-US" sz="1100">
                <a:solidFill>
                  <a:srgbClr val="CFE8E6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r>
              <a:rPr b="0" i="0" lang="en-US" sz="1100" u="none" cap="none" strike="noStrike">
                <a:solidFill>
                  <a:srgbClr val="CFE8E6"/>
                </a:solidFill>
                <a:latin typeface="Calibri"/>
                <a:ea typeface="Calibri"/>
                <a:cs typeface="Calibri"/>
                <a:sym typeface="Calibri"/>
              </a:rPr>
              <a:t> / </a:t>
            </a:r>
            <a:r>
              <a:rPr lang="en-US" sz="1100">
                <a:solidFill>
                  <a:srgbClr val="CFE8E6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2026-06-18T20:51:45Z</dcterms:created>
  <dc:creator>Thomas Martin Pfister</dc:creator>
</cp:coreProperties>
</file>